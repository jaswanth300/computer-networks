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class! Today, we are demonstrating the TCP 3-Way Handshake through an interactive 6-member network role-play activity. One narrator will explain the technical concepts while six team members physically enact the hosts, network router, and packet control flags moving across the classroom.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Before we begin the physical demonstration, let's review why we perform a role-play. TCP is a stateful protocol operating hop-by-hop. In our classroom activity, packet performers will physically carry control flags across the network router. Both host performers will update their state signs as packets arrive.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Let's introduce our 6 role-play performers! Role 1 is the Client Host. Role 2 is the SYN Packet. Role 3 is the Network Router. Role 4 is the Server Host. Role 5 is the SYN-ACK Packet. And Role 6 is the final ACK Packet. Each performer has a specific task during the 3-step exchange.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 begins! Role 1, the Client, initiates an Active Open. Client hands the SYN Packet (Role 2) to the Router (Role 3). SYN Packet carries Seq=x. The Router forwards SYN Packet to the Server (Role 4). Client updates its state sign to SYN-SENT while Server stays in LISTEN.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Step 2! Server (Role 4) acknowledges Client's SYN by setting Ack=x+1 and generates its own sequence number Seq=y. Server hands the SYN-ACK Packet (Role 5) to the Router (Role 3). Router delivers it to Client (Role 1). Upon receiving SYN-ACK, Client updates its state sign to ESTABLISHED!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3 finalizes the handshake! Client (Role 1) hands the ACK Packet (Role 6) to Router (Role 3) with Seq=x+1 and Ack=y+1. Router forwards the ACK Packet to Server (Role 4). Server receives ACK and updates its state sign to ESTABLISHED! Both endpoints are now ESTABLISHED!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summarize: Our 6 role performers demonstrated how TCP establishes a reliable connection across a network router in 3 physical steps. By synchronizing sequence numbers x and y, both Client and Server reached the ESTABLISHED state. Application data can now flow freely. Great job to our 6 performers!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2563EB"/>
                </a:solidFill>
                <a:latin typeface="Trebuchet MS"/>
              </a:defRPr>
            </a:pPr>
            <a:r>
              <a:t>COMPUTER NETWORKS | CLASSROOM ROLE-PLAY ACTIVITY</a:t>
            </a:r>
          </a:p>
          <a:p>
            <a:pPr>
              <a:spcAft>
                <a:spcPts val="1000"/>
              </a:spcAft>
              <a:defRPr sz="4400" b="1">
                <a:solidFill>
                  <a:srgbClr val="FFFFFF"/>
                </a:solidFill>
                <a:latin typeface="Trebuchet MS"/>
              </a:defRPr>
            </a:pPr>
            <a:r>
              <a:t>TCP 3-Way Handshake</a:t>
            </a:r>
          </a:p>
          <a:p>
            <a:pPr>
              <a:spcAft>
                <a:spcPts val="36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Interactive Physical Role-Play: Client, Router, Server &amp; Packet Transmission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206240"/>
            <a:ext cx="329184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429768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  <a:latin typeface="Trebuchet MS"/>
              </a:defRPr>
            </a:pPr>
            <a:r>
              <a:t>👥 6 Team Performers</a:t>
            </a:r>
          </a:p>
          <a:p>
            <a:pPr>
              <a:defRPr sz="1050">
                <a:solidFill>
                  <a:srgbClr val="94A3B8"/>
                </a:solidFill>
                <a:latin typeface="Calibri"/>
              </a:defRPr>
            </a:pPr>
            <a:r>
              <a:t>Client, Router, Server &amp; 3 Packets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43984" y="4206240"/>
            <a:ext cx="329184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81144" y="429768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  <a:latin typeface="Trebuchet MS"/>
              </a:defRPr>
            </a:pPr>
            <a:r>
              <a:t>🔀 Physical Packet Flow</a:t>
            </a:r>
          </a:p>
          <a:p>
            <a:pPr>
              <a:defRPr sz="1050">
                <a:solidFill>
                  <a:srgbClr val="94A3B8"/>
                </a:solidFill>
                <a:latin typeface="Calibri"/>
              </a:defRPr>
            </a:pPr>
            <a:r>
              <a:t>Client &lt;-&gt; Router &lt;-&gt; Server Traversal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73568" y="4206240"/>
            <a:ext cx="329184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0728" y="429768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  <a:latin typeface="Trebuchet MS"/>
              </a:defRPr>
            </a:pPr>
            <a:r>
              <a:t>⚡ 3-Step Handshake</a:t>
            </a:r>
          </a:p>
          <a:p>
            <a:pPr>
              <a:defRPr sz="1050">
                <a:solidFill>
                  <a:srgbClr val="94A3B8"/>
                </a:solidFill>
                <a:latin typeface="Calibri"/>
              </a:defRPr>
            </a:pPr>
            <a:r>
              <a:t>SYN -&gt; SYN-ACK -&gt; ACK Synchronization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Classroom Activity Deck | Explainer Narrator + 6 Role-Play Performers | Computer Networks 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Trebuchet MS"/>
              </a:defRPr>
            </a:pPr>
            <a:r>
              <a:t>01 |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Trebuchet MS"/>
              </a:defRPr>
            </a:pPr>
            <a:r>
              <a:t>Introduction &amp; Role-Play Activity Concept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383280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Why a Physical Role-Play?</a:t>
            </a:r>
          </a:p>
          <a:p>
            <a:pPr>
              <a:defRPr sz="950">
                <a:solidFill>
                  <a:srgbClr val="F1F5F9"/>
                </a:solidFill>
                <a:latin typeface="Calibri"/>
              </a:defRPr>
            </a:pPr>
            <a:r>
              <a:t>Visualizing Protocol Mechanics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301752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100">
                <a:solidFill>
                  <a:srgbClr val="0F172A"/>
                </a:solidFill>
                <a:latin typeface="Calibri"/>
              </a:defRPr>
            </a:pPr>
            <a:r>
              <a:t>• Hop-by-Hop Visibility: </a:t>
            </a:r>
            <a:r>
              <a:rPr b="0" sz="1050">
                <a:solidFill>
                  <a:srgbClr val="475569"/>
                </a:solidFill>
              </a:rPr>
              <a:t>Shows packets traversing intermediate routers rather than instant abstract delivery.</a:t>
            </a:r>
          </a:p>
          <a:p>
            <a:pPr>
              <a:spcAft>
                <a:spcPts val="1200"/>
              </a:spcAft>
              <a:defRPr b="1" sz="1100">
                <a:solidFill>
                  <a:srgbClr val="0F172A"/>
                </a:solidFill>
                <a:latin typeface="Calibri"/>
              </a:defRPr>
            </a:pPr>
            <a:r>
              <a:t>• Host State Tracking: </a:t>
            </a:r>
            <a:r>
              <a:rPr b="0" sz="1050">
                <a:solidFill>
                  <a:srgbClr val="475569"/>
                </a:solidFill>
              </a:rPr>
              <a:t>Demonstrates live state sign changes (CLOSED -&gt; LISTEN -&gt; ESTABLISHED).</a:t>
            </a:r>
          </a:p>
          <a:p>
            <a:pPr>
              <a:spcAft>
                <a:spcPts val="1200"/>
              </a:spcAft>
              <a:defRPr b="1" sz="1100">
                <a:solidFill>
                  <a:srgbClr val="0F172A"/>
                </a:solidFill>
                <a:latin typeface="Calibri"/>
              </a:defRPr>
            </a:pPr>
            <a:r>
              <a:t>• Interactive Learning: </a:t>
            </a:r>
            <a:r>
              <a:rPr b="0" sz="1050">
                <a:solidFill>
                  <a:srgbClr val="475569"/>
                </a:solidFill>
              </a:rPr>
              <a:t>Connects theoretical socket code to physical packet movement.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371600"/>
            <a:ext cx="3383280" cy="685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Key Protocol Parameters</a:t>
            </a:r>
          </a:p>
          <a:p>
            <a:pPr>
              <a:defRPr sz="950">
                <a:solidFill>
                  <a:srgbClr val="F1F5F9"/>
                </a:solidFill>
                <a:latin typeface="Calibri"/>
              </a:defRPr>
            </a:pPr>
            <a:r>
              <a:t>Control Flags &amp; Sequence Math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48840"/>
            <a:ext cx="301752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100">
                <a:solidFill>
                  <a:srgbClr val="0F172A"/>
                </a:solidFill>
                <a:latin typeface="Calibri"/>
              </a:defRPr>
            </a:pPr>
            <a:r>
              <a:t>• SYN (Synchronize): </a:t>
            </a:r>
            <a:r>
              <a:rPr b="0" sz="1050">
                <a:solidFill>
                  <a:srgbClr val="475569"/>
                </a:solidFill>
              </a:rPr>
              <a:t>Requests starting sequence synchronization from receiver.</a:t>
            </a:r>
          </a:p>
          <a:p>
            <a:pPr>
              <a:spcAft>
                <a:spcPts val="1200"/>
              </a:spcAft>
              <a:defRPr b="1" sz="1100">
                <a:solidFill>
                  <a:srgbClr val="0F172A"/>
                </a:solidFill>
                <a:latin typeface="Calibri"/>
              </a:defRPr>
            </a:pPr>
            <a:r>
              <a:t>• ACK (Acknowledge): </a:t>
            </a:r>
            <a:r>
              <a:rPr b="0" sz="1050">
                <a:solidFill>
                  <a:srgbClr val="475569"/>
                </a:solidFill>
              </a:rPr>
              <a:t>Confirms receipt of sequence bytes (Ack = Seq + 1).</a:t>
            </a:r>
          </a:p>
          <a:p>
            <a:pPr>
              <a:spcAft>
                <a:spcPts val="1200"/>
              </a:spcAft>
              <a:defRPr b="1" sz="1100">
                <a:solidFill>
                  <a:srgbClr val="0F172A"/>
                </a:solidFill>
                <a:latin typeface="Calibri"/>
              </a:defRPr>
            </a:pPr>
            <a:r>
              <a:t>• ISN (Initial Seq No): </a:t>
            </a:r>
            <a:r>
              <a:rPr b="0" sz="1050">
                <a:solidFill>
                  <a:srgbClr val="475569"/>
                </a:solidFill>
              </a:rPr>
              <a:t>Random 32-bit sequence offset generated by Client (x) and Server (y).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1371600"/>
            <a:ext cx="3383280" cy="685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Role-Play Execution Rules</a:t>
            </a:r>
          </a:p>
          <a:p>
            <a:pPr>
              <a:defRPr sz="950">
                <a:solidFill>
                  <a:srgbClr val="F1F5F9"/>
                </a:solidFill>
                <a:latin typeface="Calibri"/>
              </a:defRPr>
            </a:pPr>
            <a:r>
              <a:t>Classroom Floor Instructions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148840"/>
            <a:ext cx="301752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100">
                <a:solidFill>
                  <a:srgbClr val="0F172A"/>
                </a:solidFill>
                <a:latin typeface="Calibri"/>
              </a:defRPr>
            </a:pPr>
            <a:r>
              <a:t>• Packet Performers: </a:t>
            </a:r>
            <a:r>
              <a:rPr b="0" sz="1050">
                <a:solidFill>
                  <a:srgbClr val="475569"/>
                </a:solidFill>
              </a:rPr>
              <a:t>Physically carry flag cards and sequence numbers across the classroom floor.</a:t>
            </a:r>
          </a:p>
          <a:p>
            <a:pPr>
              <a:spcAft>
                <a:spcPts val="1200"/>
              </a:spcAft>
              <a:defRPr b="1" sz="1100">
                <a:solidFill>
                  <a:srgbClr val="0F172A"/>
                </a:solidFill>
                <a:latin typeface="Calibri"/>
              </a:defRPr>
            </a:pPr>
            <a:r>
              <a:t>• Router Performer: </a:t>
            </a:r>
            <a:r>
              <a:rPr b="0" sz="1050">
                <a:solidFill>
                  <a:srgbClr val="475569"/>
                </a:solidFill>
              </a:rPr>
              <a:t>Inspects destination IP/Port and routes packets between hosts.</a:t>
            </a:r>
          </a:p>
          <a:p>
            <a:pPr>
              <a:spcAft>
                <a:spcPts val="1200"/>
              </a:spcAft>
              <a:defRPr b="1" sz="1100">
                <a:solidFill>
                  <a:srgbClr val="0F172A"/>
                </a:solidFill>
                <a:latin typeface="Calibri"/>
              </a:defRPr>
            </a:pPr>
            <a:r>
              <a:t>• Host Performers: </a:t>
            </a:r>
            <a:r>
              <a:rPr b="0" sz="1050">
                <a:solidFill>
                  <a:srgbClr val="475569"/>
                </a:solidFill>
              </a:rPr>
              <a:t>Update state signs immediately upon receiving valid packets.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669280"/>
            <a:ext cx="10728655" cy="7315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7150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2563EB"/>
                </a:solidFill>
                <a:latin typeface="Trebuchet MS"/>
              </a:defRPr>
            </a:pPr>
            <a:r>
              <a:t>💡 Fundamental TCP Rule:</a:t>
            </a:r>
            <a:r>
              <a:rPr b="0" sz="1100">
                <a:solidFill>
                  <a:srgbClr val="0F172A"/>
                </a:solidFill>
              </a:rPr>
              <a:t> Application data (e.g. HTTP requests) cannot flow until the 3-Way Handshake successfully transitions both Client and Server to the ESTABLISHED state.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Trebuchet MS"/>
              </a:defRPr>
            </a:pPr>
            <a:r>
              <a:t>02 | CAST &amp;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Trebuchet MS"/>
              </a:defRPr>
            </a:pPr>
            <a:r>
              <a:t>Our Network Role-Play: 6 Team Roles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9728" cy="2194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481328"/>
            <a:ext cx="3108960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Trebuchet MS"/>
              </a:defRPr>
            </a:pPr>
            <a:r>
              <a:t>👤 Role 1: Client / Sender</a:t>
            </a:r>
          </a:p>
          <a:p>
            <a:pPr>
              <a:spcAft>
                <a:spcPts val="400"/>
              </a:spcAft>
              <a:defRPr sz="850" b="1">
                <a:solidFill>
                  <a:srgbClr val="2563EB"/>
                </a:solidFill>
                <a:latin typeface="Trebuchet MS"/>
              </a:defRPr>
            </a:pPr>
            <a:r>
              <a:t>HOST A (INITIATING HOST)</a:t>
            </a:r>
          </a:p>
          <a:p>
            <a:pPr>
              <a:spcAft>
                <a:spcPts val="200"/>
              </a:spcAft>
              <a:defRPr b="1" sz="950">
                <a:solidFill>
                  <a:srgbClr val="0F172A"/>
                </a:solidFill>
              </a:defRPr>
            </a:pPr>
            <a:r>
              <a:t>• Function: </a:t>
            </a:r>
            <a:r>
              <a:rPr b="0" sz="900">
                <a:solidFill>
                  <a:srgbClr val="475569"/>
                </a:solidFill>
              </a:rPr>
              <a:t>Initiates connection via socket connect().</a:t>
            </a:r>
          </a:p>
          <a:p>
            <a:pPr>
              <a:spcAft>
                <a:spcPts val="200"/>
              </a:spcAft>
              <a:defRPr b="1" sz="950">
                <a:solidFill>
                  <a:srgbClr val="0F172A"/>
                </a:solidFill>
              </a:defRPr>
            </a:pPr>
            <a:r>
              <a:t>• State Signs: </a:t>
            </a:r>
            <a:r>
              <a:rPr b="0" sz="900">
                <a:solidFill>
                  <a:srgbClr val="475569"/>
                </a:solidFill>
              </a:rPr>
              <a:t>CLOSED -&gt; SYN-SENT -&gt; ESTABLISHED.</a:t>
            </a:r>
          </a:p>
          <a:p>
            <a:pPr>
              <a:spcAft>
                <a:spcPts val="200"/>
              </a:spcAft>
              <a:defRPr b="1" sz="950">
                <a:solidFill>
                  <a:srgbClr val="0F172A"/>
                </a:solidFill>
              </a:defRPr>
            </a:pPr>
            <a:r>
              <a:t>• Sequence: </a:t>
            </a:r>
            <a:r>
              <a:rPr b="0" sz="900">
                <a:solidFill>
                  <a:srgbClr val="475569"/>
                </a:solidFill>
              </a:rPr>
              <a:t>Generates Initial Seq Number (ISN_c = x).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3750" y="137160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03750" y="1371600"/>
            <a:ext cx="109728" cy="2194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4918" y="1481328"/>
            <a:ext cx="3108960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Trebuchet MS"/>
              </a:defRPr>
            </a:pPr>
            <a:r>
              <a:t>✉️ Role 2: SYN Packet</a:t>
            </a:r>
          </a:p>
          <a:p>
            <a:pPr>
              <a:spcAft>
                <a:spcPts val="400"/>
              </a:spcAft>
              <a:defRPr sz="850" b="1">
                <a:solidFill>
                  <a:srgbClr val="2563EB"/>
                </a:solidFill>
                <a:latin typeface="Trebuchet MS"/>
              </a:defRPr>
            </a:pPr>
            <a:r>
              <a:t>STEP 1 PACKET PERFORMER</a:t>
            </a:r>
          </a:p>
          <a:p>
            <a:pPr>
              <a:spcAft>
                <a:spcPts val="200"/>
              </a:spcAft>
              <a:defRPr b="1" sz="950">
                <a:solidFill>
                  <a:srgbClr val="0F172A"/>
                </a:solidFill>
              </a:defRPr>
            </a:pPr>
            <a:r>
              <a:t>• Function: </a:t>
            </a:r>
            <a:r>
              <a:rPr b="0" sz="900">
                <a:solidFill>
                  <a:srgbClr val="475569"/>
                </a:solidFill>
              </a:rPr>
              <a:t>Carries initial connection request.</a:t>
            </a:r>
          </a:p>
          <a:p>
            <a:pPr>
              <a:spcAft>
                <a:spcPts val="200"/>
              </a:spcAft>
              <a:defRPr b="1" sz="950">
                <a:solidFill>
                  <a:srgbClr val="0F172A"/>
                </a:solidFill>
              </a:defRPr>
            </a:pPr>
            <a:r>
              <a:t>• Flags &amp; Parameters: </a:t>
            </a:r>
            <a:r>
              <a:rPr b="0" sz="900">
                <a:solidFill>
                  <a:srgbClr val="475569"/>
                </a:solidFill>
              </a:rPr>
              <a:t>Flags: [SYN=1, ACK=0], Seq = x, Ack = 0.</a:t>
            </a:r>
          </a:p>
          <a:p>
            <a:pPr>
              <a:spcAft>
                <a:spcPts val="200"/>
              </a:spcAft>
              <a:defRPr b="1" sz="950">
                <a:solidFill>
                  <a:srgbClr val="0F172A"/>
                </a:solidFill>
              </a:defRPr>
            </a:pPr>
            <a:r>
              <a:t>• Path: </a:t>
            </a:r>
            <a:r>
              <a:rPr b="0" sz="900">
                <a:solidFill>
                  <a:srgbClr val="475569"/>
                </a:solidFill>
              </a:rPr>
              <a:t>Walks from Client -&gt; Router -&gt; Server.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76895" y="137160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76895" y="1371600"/>
            <a:ext cx="109728" cy="219456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8063" y="1481328"/>
            <a:ext cx="3108960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Trebuchet MS"/>
              </a:defRPr>
            </a:pPr>
            <a:r>
              <a:t>🔀 Role 3: Router / Switch</a:t>
            </a:r>
          </a:p>
          <a:p>
            <a:pPr>
              <a:spcAft>
                <a:spcPts val="400"/>
              </a:spcAft>
              <a:defRPr sz="850" b="1">
                <a:solidFill>
                  <a:srgbClr val="475569"/>
                </a:solidFill>
                <a:latin typeface="Trebuchet MS"/>
              </a:defRPr>
            </a:pPr>
            <a:r>
              <a:t>INTERMEDIATE NETWORK HOP</a:t>
            </a:r>
          </a:p>
          <a:p>
            <a:pPr>
              <a:spcAft>
                <a:spcPts val="200"/>
              </a:spcAft>
              <a:defRPr b="1" sz="950">
                <a:solidFill>
                  <a:srgbClr val="0F172A"/>
                </a:solidFill>
              </a:defRPr>
            </a:pPr>
            <a:r>
              <a:t>• Function: </a:t>
            </a:r>
            <a:r>
              <a:rPr b="0" sz="900">
                <a:solidFill>
                  <a:srgbClr val="475569"/>
                </a:solidFill>
              </a:rPr>
              <a:t>Receives packets on ingress port &amp; forwards to destination.</a:t>
            </a:r>
          </a:p>
          <a:p>
            <a:pPr>
              <a:spcAft>
                <a:spcPts val="200"/>
              </a:spcAft>
              <a:defRPr b="1" sz="950">
                <a:solidFill>
                  <a:srgbClr val="0F172A"/>
                </a:solidFill>
              </a:defRPr>
            </a:pPr>
            <a:r>
              <a:t>• Inspection: </a:t>
            </a:r>
            <a:r>
              <a:rPr b="0" sz="900">
                <a:solidFill>
                  <a:srgbClr val="475569"/>
                </a:solidFill>
              </a:rPr>
              <a:t>Verifies packet headers &amp; routes across network.</a:t>
            </a:r>
          </a:p>
          <a:p>
            <a:pPr>
              <a:spcAft>
                <a:spcPts val="200"/>
              </a:spcAft>
              <a:defRPr b="1" sz="950">
                <a:solidFill>
                  <a:srgbClr val="0F172A"/>
                </a:solidFill>
              </a:defRPr>
            </a:pPr>
            <a:r>
              <a:t>• Realism: </a:t>
            </a:r>
            <a:r>
              <a:rPr b="0" sz="900">
                <a:solidFill>
                  <a:srgbClr val="475569"/>
                </a:solidFill>
              </a:rPr>
              <a:t>Demonstrates hop-by-hop network traversal.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794760"/>
            <a:ext cx="109728" cy="21945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904488"/>
            <a:ext cx="3108960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Trebuchet MS"/>
              </a:defRPr>
            </a:pPr>
            <a:r>
              <a:t>🖥️ Role 4: Server / Receiver</a:t>
            </a:r>
          </a:p>
          <a:p>
            <a:pPr>
              <a:spcAft>
                <a:spcPts val="400"/>
              </a:spcAft>
              <a:defRPr sz="850" b="1">
                <a:solidFill>
                  <a:srgbClr val="059669"/>
                </a:solidFill>
                <a:latin typeface="Trebuchet MS"/>
              </a:defRPr>
            </a:pPr>
            <a:r>
              <a:t>HOST B (LISTENING HOST)</a:t>
            </a:r>
          </a:p>
          <a:p>
            <a:pPr>
              <a:spcAft>
                <a:spcPts val="200"/>
              </a:spcAft>
              <a:defRPr b="1" sz="950">
                <a:solidFill>
                  <a:srgbClr val="0F172A"/>
                </a:solidFill>
              </a:defRPr>
            </a:pPr>
            <a:r>
              <a:t>• Function: </a:t>
            </a:r>
            <a:r>
              <a:rPr b="0" sz="900">
                <a:solidFill>
                  <a:srgbClr val="475569"/>
                </a:solidFill>
              </a:rPr>
              <a:t>Listens on port 443 &amp; processes connection requests.</a:t>
            </a:r>
          </a:p>
          <a:p>
            <a:pPr>
              <a:spcAft>
                <a:spcPts val="200"/>
              </a:spcAft>
              <a:defRPr b="1" sz="950">
                <a:solidFill>
                  <a:srgbClr val="0F172A"/>
                </a:solidFill>
              </a:defRPr>
            </a:pPr>
            <a:r>
              <a:t>• State Signs: </a:t>
            </a:r>
            <a:r>
              <a:rPr b="0" sz="900">
                <a:solidFill>
                  <a:srgbClr val="475569"/>
                </a:solidFill>
              </a:rPr>
              <a:t>LISTEN -&gt; SYN-RCVD -&gt; ESTABLISHED.</a:t>
            </a:r>
          </a:p>
          <a:p>
            <a:pPr>
              <a:spcAft>
                <a:spcPts val="200"/>
              </a:spcAft>
              <a:defRPr b="1" sz="950">
                <a:solidFill>
                  <a:srgbClr val="0F172A"/>
                </a:solidFill>
              </a:defRPr>
            </a:pPr>
            <a:r>
              <a:t>• Sequence: </a:t>
            </a:r>
            <a:r>
              <a:rPr b="0" sz="900">
                <a:solidFill>
                  <a:srgbClr val="475569"/>
                </a:solidFill>
              </a:rPr>
              <a:t>Generates Server ISN (ISN_s = y).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03750" y="379476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03750" y="3794760"/>
            <a:ext cx="109728" cy="21945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04918" y="3904488"/>
            <a:ext cx="3108960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Trebuchet MS"/>
              </a:defRPr>
            </a:pPr>
            <a:r>
              <a:t>📩 Role 5: SYN-ACK Packet</a:t>
            </a:r>
          </a:p>
          <a:p>
            <a:pPr>
              <a:spcAft>
                <a:spcPts val="400"/>
              </a:spcAft>
              <a:defRPr sz="850" b="1">
                <a:solidFill>
                  <a:srgbClr val="D97706"/>
                </a:solidFill>
                <a:latin typeface="Trebuchet MS"/>
              </a:defRPr>
            </a:pPr>
            <a:r>
              <a:t>STEP 2 PACKET PERFORMER</a:t>
            </a:r>
          </a:p>
          <a:p>
            <a:pPr>
              <a:spcAft>
                <a:spcPts val="200"/>
              </a:spcAft>
              <a:defRPr b="1" sz="950">
                <a:solidFill>
                  <a:srgbClr val="0F172A"/>
                </a:solidFill>
              </a:defRPr>
            </a:pPr>
            <a:r>
              <a:t>• Function: </a:t>
            </a:r>
            <a:r>
              <a:rPr b="0" sz="900">
                <a:solidFill>
                  <a:srgbClr val="475569"/>
                </a:solidFill>
              </a:rPr>
              <a:t>Carries Server's response &amp; sequence proposal.</a:t>
            </a:r>
          </a:p>
          <a:p>
            <a:pPr>
              <a:spcAft>
                <a:spcPts val="200"/>
              </a:spcAft>
              <a:defRPr b="1" sz="950">
                <a:solidFill>
                  <a:srgbClr val="0F172A"/>
                </a:solidFill>
              </a:defRPr>
            </a:pPr>
            <a:r>
              <a:t>• Flags &amp; Parameters: </a:t>
            </a:r>
            <a:r>
              <a:rPr b="0" sz="900">
                <a:solidFill>
                  <a:srgbClr val="475569"/>
                </a:solidFill>
              </a:rPr>
              <a:t>Flags: [SYN=1, ACK=1], Seq = y, Ack = x+1.</a:t>
            </a:r>
          </a:p>
          <a:p>
            <a:pPr>
              <a:spcAft>
                <a:spcPts val="200"/>
              </a:spcAft>
              <a:defRPr b="1" sz="950">
                <a:solidFill>
                  <a:srgbClr val="0F172A"/>
                </a:solidFill>
              </a:defRPr>
            </a:pPr>
            <a:r>
              <a:t>• Path: </a:t>
            </a:r>
            <a:r>
              <a:rPr b="0" sz="900">
                <a:solidFill>
                  <a:srgbClr val="475569"/>
                </a:solidFill>
              </a:rPr>
              <a:t>Walks from Server -&gt; Router -&gt; Client.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6895" y="379476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76895" y="3794760"/>
            <a:ext cx="109728" cy="21945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8063" y="3904488"/>
            <a:ext cx="3108960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Trebuchet MS"/>
              </a:defRPr>
            </a:pPr>
            <a:r>
              <a:t>✅ Role 6: ACK Packet</a:t>
            </a:r>
          </a:p>
          <a:p>
            <a:pPr>
              <a:spcAft>
                <a:spcPts val="400"/>
              </a:spcAft>
              <a:defRPr sz="850" b="1">
                <a:solidFill>
                  <a:srgbClr val="059669"/>
                </a:solidFill>
                <a:latin typeface="Trebuchet MS"/>
              </a:defRPr>
            </a:pPr>
            <a:r>
              <a:t>STEP 3 PACKET PERFORMER</a:t>
            </a:r>
          </a:p>
          <a:p>
            <a:pPr>
              <a:spcAft>
                <a:spcPts val="200"/>
              </a:spcAft>
              <a:defRPr b="1" sz="950">
                <a:solidFill>
                  <a:srgbClr val="0F172A"/>
                </a:solidFill>
              </a:defRPr>
            </a:pPr>
            <a:r>
              <a:t>• Function: </a:t>
            </a:r>
            <a:r>
              <a:rPr b="0" sz="900">
                <a:solidFill>
                  <a:srgbClr val="475569"/>
                </a:solidFill>
              </a:rPr>
              <a:t>Carries final confirmation to establish session.</a:t>
            </a:r>
          </a:p>
          <a:p>
            <a:pPr>
              <a:spcAft>
                <a:spcPts val="200"/>
              </a:spcAft>
              <a:defRPr b="1" sz="950">
                <a:solidFill>
                  <a:srgbClr val="0F172A"/>
                </a:solidFill>
              </a:defRPr>
            </a:pPr>
            <a:r>
              <a:t>• Flags &amp; Parameters: </a:t>
            </a:r>
            <a:r>
              <a:rPr b="0" sz="900">
                <a:solidFill>
                  <a:srgbClr val="475569"/>
                </a:solidFill>
              </a:rPr>
              <a:t>Flags: [SYN=0, ACK=1], Seq = x+1, Ack = y+1.</a:t>
            </a:r>
          </a:p>
          <a:p>
            <a:pPr>
              <a:spcAft>
                <a:spcPts val="200"/>
              </a:spcAft>
              <a:defRPr b="1" sz="950">
                <a:solidFill>
                  <a:srgbClr val="0F172A"/>
                </a:solidFill>
              </a:defRPr>
            </a:pPr>
            <a:r>
              <a:t>• Path: </a:t>
            </a:r>
            <a:r>
              <a:rPr b="0" sz="900">
                <a:solidFill>
                  <a:srgbClr val="475569"/>
                </a:solidFill>
              </a:rPr>
              <a:t>Walks from Client -&gt; Router -&gt; Server.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6126480"/>
            <a:ext cx="10728655" cy="411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6144768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Calibri"/>
              </a:defRPr>
            </a:pPr>
            <a:r>
              <a:t>🎭 Performers Assigned — Ready to Begin 3-Step Physical Role-Play Demonstration!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Trebuchet MS"/>
              </a:defRPr>
            </a:pPr>
            <a:r>
              <a:t>03 | STEP 1: SYN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Trebuchet MS"/>
              </a:defRPr>
            </a:pPr>
            <a:r>
              <a:t>Step 1: Client Connection Request (SYN Exchange)</a:t>
            </a:r>
          </a:p>
        </p:txBody>
      </p:sp>
      <p:pic>
        <p:nvPicPr>
          <p:cNvPr id="4" name="Picture 3" descr="diagram_step1_sy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5212080" cy="438476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248095" y="128016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48095" y="1280160"/>
            <a:ext cx="5212080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Physical Performer Actions (Step 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6596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Client (Role 1) [Initiates Connection]: </a:t>
            </a:r>
            <a:r>
              <a:rPr b="0" sz="950">
                <a:solidFill>
                  <a:srgbClr val="475569"/>
                </a:solidFill>
              </a:rPr>
              <a:t>Calls connect(), generates ISN_c = x (e.g., 1000). Updates state sign: CLOSED -&gt; SYN-SENT.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SYN Packet (Role 2) [Dispatches Packet]: </a:t>
            </a:r>
            <a:r>
              <a:rPr b="0" sz="950">
                <a:solidFill>
                  <a:srgbClr val="475569"/>
                </a:solidFill>
              </a:rPr>
              <a:t>Holds card: [SYN=1, ACK=0], Seq = x, Ack = 0. Walks from Client to Router.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Router (Role 3) [Forwards Packet]: </a:t>
            </a:r>
            <a:r>
              <a:rPr b="0" sz="950">
                <a:solidFill>
                  <a:srgbClr val="475569"/>
                </a:solidFill>
              </a:rPr>
              <a:t>Inspects SYN packet on ingress interface and forwards across classroom to Server.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Server (Role 4) [Receives SYN]: </a:t>
            </a:r>
            <a:r>
              <a:rPr b="0" sz="950">
                <a:solidFill>
                  <a:srgbClr val="475569"/>
                </a:solidFill>
              </a:rPr>
              <a:t>In LISTEN state. Receives SYN, allocates half-open TCB buffer entry in SYN queue.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Sequence Rule [Consumes 1 Seq Count]: </a:t>
            </a:r>
            <a:r>
              <a:rPr b="0" sz="950">
                <a:solidFill>
                  <a:srgbClr val="475569"/>
                </a:solidFill>
              </a:rPr>
              <a:t>SYN flag consumes 1 sequence number (x). Next expected byte will be x + 1.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Trebuchet MS"/>
              </a:defRPr>
            </a:pPr>
            <a:r>
              <a:t>04 | STEP 2: SYN-ACK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Trebuchet MS"/>
              </a:defRPr>
            </a:pPr>
            <a:r>
              <a:t>Step 2: Server Response &amp; Synchronization (SYN-ACK)</a:t>
            </a:r>
          </a:p>
        </p:txBody>
      </p:sp>
      <p:pic>
        <p:nvPicPr>
          <p:cNvPr id="4" name="Picture 3" descr="diagram_step2_syn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5212080" cy="449658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248095" y="128016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48095" y="1280160"/>
            <a:ext cx="5212080" cy="5943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Physical Performer Actions (Step 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6596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Server (Role 4) [Responds &amp; Syncs]: </a:t>
            </a:r>
            <a:r>
              <a:rPr b="0" sz="950">
                <a:solidFill>
                  <a:srgbClr val="475569"/>
                </a:solidFill>
              </a:rPr>
              <a:t>Generates Server ISN_s = y (e.g., 5000) and sets Ack = x + 1. Updates state sign: LISTEN -&gt; SYN-RCVD.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SYN-ACK Packet (Role 5) [Dispatches Packet]: </a:t>
            </a:r>
            <a:r>
              <a:rPr b="0" sz="950">
                <a:solidFill>
                  <a:srgbClr val="475569"/>
                </a:solidFill>
              </a:rPr>
              <a:t>Holds card: [SYN=1, ACK=1], Seq = y, Ack = x + 1. Walks from Server to Router.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Router (Role 3) [Routes Back]: </a:t>
            </a:r>
            <a:r>
              <a:rPr b="0" sz="950">
                <a:solidFill>
                  <a:srgbClr val="475569"/>
                </a:solidFill>
              </a:rPr>
              <a:t>Receives SYN-ACK from Server interface and routes back across classroom to Client.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Client (Role 1) [Receives SYN-ACK]: </a:t>
            </a:r>
            <a:r>
              <a:rPr b="0" sz="950">
                <a:solidFill>
                  <a:srgbClr val="475569"/>
                </a:solidFill>
              </a:rPr>
              <a:t>Verifies Ack = x + 1. Immediately updates state sign: SYN-SENT -&gt; ESTABLISHED!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Milestone [Client Connected]: </a:t>
            </a:r>
            <a:r>
              <a:rPr b="0" sz="950">
                <a:solidFill>
                  <a:srgbClr val="475569"/>
                </a:solidFill>
              </a:rPr>
              <a:t>Client host is now ready to transmit application payload after final ACK.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Trebuchet MS"/>
              </a:defRPr>
            </a:pPr>
            <a:r>
              <a:t>05 | STEP 3: 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Trebuchet MS"/>
              </a:defRPr>
            </a:pPr>
            <a:r>
              <a:t>Step 3: Client Confirms Connection (ACK Exchange)</a:t>
            </a:r>
          </a:p>
        </p:txBody>
      </p:sp>
      <p:pic>
        <p:nvPicPr>
          <p:cNvPr id="4" name="Picture 3" descr="diagram_step3_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5212080" cy="450147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248095" y="128016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48095" y="1280160"/>
            <a:ext cx="5212080" cy="5943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Physical Performer Actions (Step 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6596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Client (Role 1) [Sends Final ACK]: </a:t>
            </a:r>
            <a:r>
              <a:rPr b="0" sz="950">
                <a:solidFill>
                  <a:srgbClr val="475569"/>
                </a:solidFill>
              </a:rPr>
              <a:t>Sets Seq = x + 1 and Ack = y + 1. Clears SYN flag (SYN=0).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ACK Packet (Role 6) [Dispatches Packet]: </a:t>
            </a:r>
            <a:r>
              <a:rPr b="0" sz="950">
                <a:solidFill>
                  <a:srgbClr val="475569"/>
                </a:solidFill>
              </a:rPr>
              <a:t>Holds card: [SYN=0, ACK=1], Seq = x + 1, Ack = y + 1. Walks from Client to Router.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Router (Role 3) [Forwards ACK]: </a:t>
            </a:r>
            <a:r>
              <a:rPr b="0" sz="950">
                <a:solidFill>
                  <a:srgbClr val="475569"/>
                </a:solidFill>
              </a:rPr>
              <a:t>Receives final ACK segment and delivers it to Server interface.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Server (Role 4) [Completes Handshake]: </a:t>
            </a:r>
            <a:r>
              <a:rPr b="0" sz="950">
                <a:solidFill>
                  <a:srgbClr val="475569"/>
                </a:solidFill>
              </a:rPr>
              <a:t>Receives ACK, verifies Ack = y + 1. Updates state sign: SYN-RCVD -&gt; ESTABLISHED!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Outcome [Bi-Directional Sync]: </a:t>
            </a:r>
            <a:r>
              <a:rPr b="0" sz="950">
                <a:solidFill>
                  <a:srgbClr val="475569"/>
                </a:solidFill>
              </a:rPr>
              <a:t>Both sockets are now ESTABLISHED. Application data transfer is unlocked!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Trebuchet MS"/>
              </a:defRPr>
            </a:pPr>
            <a:r>
              <a:t>06 |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Trebuchet MS"/>
              </a:defRPr>
            </a:pPr>
            <a:r>
              <a:t>Connection Established &amp; Role-Play Activity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9728" cy="2011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81328"/>
            <a:ext cx="4846320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Trebuchet MS"/>
              </a:defRPr>
            </a:pPr>
            <a:r>
              <a:t>1. Physical Packet Traversal</a:t>
            </a:r>
          </a:p>
          <a:p>
            <a:pPr>
              <a:spcAft>
                <a:spcPts val="400"/>
              </a:spcAft>
              <a:defRPr sz="850" b="1">
                <a:solidFill>
                  <a:srgbClr val="2563EB"/>
                </a:solidFill>
                <a:latin typeface="Trebuchet MS"/>
              </a:defRPr>
            </a:pPr>
            <a:r>
              <a:t>CLIENT &lt;-&gt; ROUTER &lt;-&gt; SERVER</a:t>
            </a:r>
          </a:p>
          <a:p>
            <a:pPr>
              <a:spcAft>
                <a:spcPts val="200"/>
              </a:spcAft>
              <a:defRPr b="1" sz="950">
                <a:solidFill>
                  <a:srgbClr val="0F172A"/>
                </a:solidFill>
              </a:defRPr>
            </a:pPr>
            <a:r>
              <a:t>• Router Mediation: </a:t>
            </a:r>
            <a:r>
              <a:rPr b="0" sz="900">
                <a:solidFill>
                  <a:srgbClr val="475569"/>
                </a:solidFill>
              </a:rPr>
              <a:t>Packets physically traveled through intermediate router hop (Role 3).</a:t>
            </a:r>
          </a:p>
          <a:p>
            <a:pPr>
              <a:spcAft>
                <a:spcPts val="200"/>
              </a:spcAft>
              <a:defRPr b="1" sz="950">
                <a:solidFill>
                  <a:srgbClr val="0F172A"/>
                </a:solidFill>
              </a:defRPr>
            </a:pPr>
            <a:r>
              <a:t>• Flag Discipline: </a:t>
            </a:r>
            <a:r>
              <a:rPr b="0" sz="900">
                <a:solidFill>
                  <a:srgbClr val="475569"/>
                </a:solidFill>
              </a:rPr>
              <a:t>SYN requested sync; SYN-ACK acknowledged &amp; proposed; ACK confirmed.</a:t>
            </a:r>
          </a:p>
          <a:p>
            <a:pPr>
              <a:spcAft>
                <a:spcPts val="200"/>
              </a:spcAft>
              <a:defRPr b="1" sz="950">
                <a:solidFill>
                  <a:srgbClr val="0F172A"/>
                </a:solidFill>
              </a:defRPr>
            </a:pPr>
            <a:r>
              <a:t>• Latency: </a:t>
            </a:r>
            <a:r>
              <a:rPr b="0" sz="900">
                <a:solidFill>
                  <a:srgbClr val="475569"/>
                </a:solidFill>
              </a:rPr>
              <a:t>Complete 3-step physical exchange took 1 Round Trip Time (1 RTT).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37160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48095" y="1371600"/>
            <a:ext cx="109728" cy="20116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22415" y="1481328"/>
            <a:ext cx="4846320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Trebuchet MS"/>
              </a:defRPr>
            </a:pPr>
            <a:r>
              <a:t>2. Sequence &amp; Ack Number Math</a:t>
            </a:r>
          </a:p>
          <a:p>
            <a:pPr>
              <a:spcAft>
                <a:spcPts val="400"/>
              </a:spcAft>
              <a:defRPr sz="850" b="1">
                <a:solidFill>
                  <a:srgbClr val="059669"/>
                </a:solidFill>
                <a:latin typeface="Trebuchet MS"/>
              </a:defRPr>
            </a:pPr>
            <a:r>
              <a:t>BYTE OFFSET AGREEMENT</a:t>
            </a:r>
          </a:p>
          <a:p>
            <a:pPr>
              <a:spcAft>
                <a:spcPts val="200"/>
              </a:spcAft>
              <a:defRPr b="1" sz="950">
                <a:solidFill>
                  <a:srgbClr val="0F172A"/>
                </a:solidFill>
              </a:defRPr>
            </a:pPr>
            <a:r>
              <a:t>• Client Offset: </a:t>
            </a:r>
            <a:r>
              <a:rPr b="0" sz="900">
                <a:solidFill>
                  <a:srgbClr val="475569"/>
                </a:solidFill>
              </a:rPr>
              <a:t>Client ISN_c = x -&gt; Server ACK = x + 1 -&gt; Next Client Seq = x + 1.</a:t>
            </a:r>
          </a:p>
          <a:p>
            <a:pPr>
              <a:spcAft>
                <a:spcPts val="200"/>
              </a:spcAft>
              <a:defRPr b="1" sz="950">
                <a:solidFill>
                  <a:srgbClr val="0F172A"/>
                </a:solidFill>
              </a:defRPr>
            </a:pPr>
            <a:r>
              <a:t>• Server Offset: </a:t>
            </a:r>
            <a:r>
              <a:rPr b="0" sz="900">
                <a:solidFill>
                  <a:srgbClr val="475569"/>
                </a:solidFill>
              </a:rPr>
              <a:t>Server ISN_s = y -&gt; Client ACK = y + 1 -&gt; Next Server Seq = y + 1.</a:t>
            </a:r>
          </a:p>
          <a:p>
            <a:pPr>
              <a:spcAft>
                <a:spcPts val="200"/>
              </a:spcAft>
              <a:defRPr b="1" sz="950">
                <a:solidFill>
                  <a:srgbClr val="0F172A"/>
                </a:solidFill>
              </a:defRPr>
            </a:pPr>
            <a:r>
              <a:t>• Sequence Cost: </a:t>
            </a:r>
            <a:r>
              <a:rPr b="0" sz="900">
                <a:solidFill>
                  <a:srgbClr val="475569"/>
                </a:solidFill>
              </a:rPr>
              <a:t>SYN control flag consumed 1 sequence count without carrying data payload.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1188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611880"/>
            <a:ext cx="109728" cy="20116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721608"/>
            <a:ext cx="4846320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Trebuchet MS"/>
              </a:defRPr>
            </a:pPr>
            <a:r>
              <a:t>3. Host State Machine Alignment</a:t>
            </a:r>
          </a:p>
          <a:p>
            <a:pPr>
              <a:spcAft>
                <a:spcPts val="400"/>
              </a:spcAft>
              <a:defRPr sz="850" b="1">
                <a:solidFill>
                  <a:srgbClr val="D97706"/>
                </a:solidFill>
                <a:latin typeface="Trebuchet MS"/>
              </a:defRPr>
            </a:pPr>
            <a:r>
              <a:t>SYNCHRONIZED STATE SIGNS</a:t>
            </a:r>
          </a:p>
          <a:p>
            <a:pPr>
              <a:spcAft>
                <a:spcPts val="200"/>
              </a:spcAft>
              <a:defRPr b="1" sz="950">
                <a:solidFill>
                  <a:srgbClr val="0F172A"/>
                </a:solidFill>
              </a:defRPr>
            </a:pPr>
            <a:r>
              <a:t>• Client Path: </a:t>
            </a:r>
            <a:r>
              <a:rPr b="0" sz="900">
                <a:solidFill>
                  <a:srgbClr val="475569"/>
                </a:solidFill>
              </a:rPr>
              <a:t>CLOSED -&gt; SYN-SENT -&gt; ESTABLISHED (Active Open).</a:t>
            </a:r>
          </a:p>
          <a:p>
            <a:pPr>
              <a:spcAft>
                <a:spcPts val="200"/>
              </a:spcAft>
              <a:defRPr b="1" sz="950">
                <a:solidFill>
                  <a:srgbClr val="0F172A"/>
                </a:solidFill>
              </a:defRPr>
            </a:pPr>
            <a:r>
              <a:t>• Server Path: </a:t>
            </a:r>
            <a:r>
              <a:rPr b="0" sz="900">
                <a:solidFill>
                  <a:srgbClr val="475569"/>
                </a:solidFill>
              </a:rPr>
              <a:t>CLOSED -&gt; LISTEN -&gt; SYN-RCVD -&gt; ESTABLISHED (Passive Open).</a:t>
            </a:r>
          </a:p>
          <a:p>
            <a:pPr>
              <a:spcAft>
                <a:spcPts val="200"/>
              </a:spcAft>
              <a:defRPr b="1" sz="950">
                <a:solidFill>
                  <a:srgbClr val="0F172A"/>
                </a:solidFill>
              </a:defRPr>
            </a:pPr>
            <a:r>
              <a:t>• Final State: </a:t>
            </a:r>
            <a:r>
              <a:rPr b="0" sz="900">
                <a:solidFill>
                  <a:srgbClr val="475569"/>
                </a:solidFill>
              </a:rPr>
              <a:t>Both Client and Server hold 'ESTABLISHED' signs visible to classroom.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8095" y="361188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48095" y="3611880"/>
            <a:ext cx="109728" cy="2011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22415" y="3721608"/>
            <a:ext cx="4846320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Trebuchet MS"/>
              </a:defRPr>
            </a:pPr>
            <a:r>
              <a:t>4. Transition to Application Data</a:t>
            </a:r>
          </a:p>
          <a:p>
            <a:pPr>
              <a:spcAft>
                <a:spcPts val="400"/>
              </a:spcAft>
              <a:defRPr sz="850" b="1">
                <a:solidFill>
                  <a:srgbClr val="7C3AED"/>
                </a:solidFill>
                <a:latin typeface="Trebuchet MS"/>
              </a:defRPr>
            </a:pPr>
            <a:r>
              <a:t>PAYLOAD TRANSMISSION UNLOCKED</a:t>
            </a:r>
          </a:p>
          <a:p>
            <a:pPr>
              <a:spcAft>
                <a:spcPts val="200"/>
              </a:spcAft>
              <a:defRPr b="1" sz="950">
                <a:solidFill>
                  <a:srgbClr val="0F172A"/>
                </a:solidFill>
              </a:defRPr>
            </a:pPr>
            <a:r>
              <a:t>• Session Active: </a:t>
            </a:r>
            <a:r>
              <a:rPr b="0" sz="900">
                <a:solidFill>
                  <a:srgbClr val="475569"/>
                </a:solidFill>
              </a:rPr>
              <a:t>Full-duplex reliable connection is now active between Host A and Host B.</a:t>
            </a:r>
          </a:p>
          <a:p>
            <a:pPr>
              <a:spcAft>
                <a:spcPts val="200"/>
              </a:spcAft>
              <a:defRPr b="1" sz="950">
                <a:solidFill>
                  <a:srgbClr val="0F172A"/>
                </a:solidFill>
              </a:defRPr>
            </a:pPr>
            <a:r>
              <a:t>• Application Flow: </a:t>
            </a:r>
            <a:r>
              <a:rPr b="0" sz="900">
                <a:solidFill>
                  <a:srgbClr val="475569"/>
                </a:solidFill>
              </a:rPr>
              <a:t>Client can now transmit HTTP GET request over open TCP socket.</a:t>
            </a:r>
          </a:p>
          <a:p>
            <a:pPr>
              <a:spcAft>
                <a:spcPts val="200"/>
              </a:spcAft>
              <a:defRPr b="1" sz="950">
                <a:solidFill>
                  <a:srgbClr val="0F172A"/>
                </a:solidFill>
              </a:defRPr>
            </a:pPr>
            <a:r>
              <a:t>• Role-Play Wrap: </a:t>
            </a:r>
            <a:r>
              <a:rPr b="0" sz="900">
                <a:solidFill>
                  <a:srgbClr val="475569"/>
                </a:solidFill>
              </a:rPr>
              <a:t>Applause for our 6 Role-Play Performers and Narrator!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760720"/>
            <a:ext cx="10728655" cy="7315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80644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2563EB"/>
                </a:solidFill>
                <a:latin typeface="Trebuchet MS"/>
              </a:defRPr>
            </a:pPr>
            <a:r>
              <a:t>🎓 Role-Play Activity Conclusion:</a:t>
            </a:r>
            <a:r>
              <a:rPr b="0" sz="1100">
                <a:solidFill>
                  <a:srgbClr val="F1F5F9"/>
                </a:solidFill>
              </a:rPr>
              <a:t> Our 6 role performers demonstrated how TCP establishes a reliable connection across a network router in 3 physical steps. By synchronizing sequence numbers x and y, both Client and Server reached the ESTABLISHED state. Great job team!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